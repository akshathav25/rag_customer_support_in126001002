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1D0D-61E5-5A8C-C3B3-8F38922B4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RAG-Based Customer Support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D0347-E69B-AC00-2475-4D7462068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Technical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4803B-1298-961E-77A4-00ABD0A901BD}"/>
              </a:ext>
            </a:extLst>
          </p:cNvPr>
          <p:cNvSpPr txBox="1"/>
          <p:nvPr/>
        </p:nvSpPr>
        <p:spPr>
          <a:xfrm>
            <a:off x="581191" y="3244334"/>
            <a:ext cx="819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 Multi-Agent System with </a:t>
            </a:r>
            <a:r>
              <a:rPr lang="en-US" b="1" dirty="0" err="1">
                <a:solidFill>
                  <a:schemeClr val="bg1"/>
                </a:solidFill>
              </a:rPr>
              <a:t>LangGraph</a:t>
            </a:r>
            <a:r>
              <a:rPr lang="en-US" b="1" dirty="0">
                <a:solidFill>
                  <a:schemeClr val="bg1"/>
                </a:solidFill>
              </a:rPr>
              <a:t> Orchestration &amp; HITL Verification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17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FE10-B5C6-9BDC-19A4-474FE4F0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BE5AB-ADB4-04C3-FCE5-F1E902ACF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6" y="1804445"/>
            <a:ext cx="11366091" cy="52209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1.1 What is RAG?</a:t>
            </a:r>
          </a:p>
          <a:p>
            <a:pPr algn="just"/>
            <a:r>
              <a:rPr lang="en-US" dirty="0"/>
              <a:t>Retrieval-Augmented Generation (RAG) is an AI architecture that combines information retrieval with Large Language Models (LLMs) to generate accurate, context-aware responses. Instead of relying only on the model’s pre-trained knowledge, RAG retrieves relevant information from an external knowledge base and uses that context to generate reliable answers.</a:t>
            </a:r>
          </a:p>
          <a:p>
            <a:r>
              <a:rPr lang="en-US" dirty="0"/>
              <a:t>This approach significantly reduces hallucination, improves factual accuracy, and ensures that responses are strictly grounded in company-specific documentation.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b="1" dirty="0"/>
              <a:t>1.2 Why RAG is Needed</a:t>
            </a:r>
          </a:p>
          <a:p>
            <a:pPr algn="just"/>
            <a:r>
              <a:rPr lang="en-US" dirty="0"/>
              <a:t>Traditional support systems rely on human agents manually searching through dense documentation, leading to delayed response times and high operational costs. A RAG-based system automates the delivery of "Source of Truth" data at scale.</a:t>
            </a:r>
          </a:p>
          <a:p>
            <a:endParaRPr lang="en-US" sz="600" dirty="0"/>
          </a:p>
          <a:p>
            <a:pPr marL="0" indent="0">
              <a:buNone/>
            </a:pPr>
            <a:r>
              <a:rPr lang="en-US" b="1" dirty="0"/>
              <a:t>1.3 Use Case: </a:t>
            </a:r>
            <a:r>
              <a:rPr lang="en-US" b="1" dirty="0" err="1"/>
              <a:t>CloudNova</a:t>
            </a:r>
            <a:r>
              <a:rPr lang="en-US" b="1" dirty="0"/>
              <a:t> Systems</a:t>
            </a:r>
          </a:p>
          <a:p>
            <a:pPr marL="0" indent="0">
              <a:buNone/>
            </a:pPr>
            <a:r>
              <a:rPr lang="en-US" dirty="0"/>
              <a:t>This project implements a support assistant for </a:t>
            </a:r>
            <a:r>
              <a:rPr lang="en-US" dirty="0" err="1"/>
              <a:t>CloudNova's</a:t>
            </a:r>
            <a:r>
              <a:rPr lang="en-US" dirty="0"/>
              <a:t> infrastructure stack, handling:</a:t>
            </a:r>
          </a:p>
          <a:p>
            <a:r>
              <a:rPr lang="en-US" dirty="0"/>
              <a:t>Billing and Refund Processing</a:t>
            </a:r>
          </a:p>
          <a:p>
            <a:r>
              <a:rPr lang="en-US" dirty="0"/>
              <a:t>API Authentication and Access Management</a:t>
            </a:r>
          </a:p>
          <a:p>
            <a:r>
              <a:rPr lang="en-US" dirty="0"/>
              <a:t>Security Protocols &amp; Password Management</a:t>
            </a:r>
          </a:p>
          <a:p>
            <a:r>
              <a:rPr lang="en-US" dirty="0"/>
              <a:t>Enterprise SLA Compliance &amp; Troubleshooting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60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37EE-402E-E86A-C53B-BC757911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System Architecture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8D20-D467-BEAF-C3F7-CAE11375D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35724"/>
            <a:ext cx="11029615" cy="1407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2.1 High-Level Architecture</a:t>
            </a:r>
          </a:p>
          <a:p>
            <a:r>
              <a:rPr lang="en-US" dirty="0"/>
              <a:t>The architecture is bifurcated into two distinct pipelines: Ingestion (Data Prep) and Inference (Real-time Querying).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29D72-C4AE-8FBC-28C5-E1B2F9BBA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819" y="2905419"/>
            <a:ext cx="8297433" cy="1314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7561D-9553-4F3C-0FDD-0E50841B88E9}"/>
              </a:ext>
            </a:extLst>
          </p:cNvPr>
          <p:cNvSpPr txBox="1"/>
          <p:nvPr/>
        </p:nvSpPr>
        <p:spPr>
          <a:xfrm>
            <a:off x="678426" y="4621161"/>
            <a:ext cx="10932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Pre-processes the </a:t>
            </a:r>
            <a:r>
              <a:rPr lang="en-IN" dirty="0" err="1"/>
              <a:t>CloudNova</a:t>
            </a:r>
            <a:r>
              <a:rPr lang="en-IN" dirty="0"/>
              <a:t> Master Handbook into a vector-searchable format.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DA830-99AA-F0F5-A04D-E7D0BF801A3E}"/>
              </a:ext>
            </a:extLst>
          </p:cNvPr>
          <p:cNvSpPr txBox="1"/>
          <p:nvPr/>
        </p:nvSpPr>
        <p:spPr>
          <a:xfrm>
            <a:off x="4350773" y="4127997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Offline Ingestion Pipeline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75E753-A15B-8C93-4567-0B6DAB8F3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819" y="5072538"/>
            <a:ext cx="8345065" cy="1247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F58B58-254B-E464-57EA-CB79FDFD318D}"/>
              </a:ext>
            </a:extLst>
          </p:cNvPr>
          <p:cNvSpPr txBox="1"/>
          <p:nvPr/>
        </p:nvSpPr>
        <p:spPr>
          <a:xfrm>
            <a:off x="4350773" y="6349984"/>
            <a:ext cx="356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Online Query Lifecycle</a:t>
            </a:r>
          </a:p>
        </p:txBody>
      </p:sp>
    </p:spTree>
    <p:extLst>
      <p:ext uri="{BB962C8B-B14F-4D97-AF65-F5344CB8AC3E}">
        <p14:creationId xmlns:p14="http://schemas.microsoft.com/office/powerpoint/2010/main" val="365644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A903-707E-A934-6371-E6F3C692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System Architecture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11447-33E6-F0C9-BAE3-15FF8191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72341"/>
            <a:ext cx="11029615" cy="37589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2.2 Component Interaction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5EC0B-3DE6-CBC8-0C7C-84E7B63B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0" y="2614107"/>
            <a:ext cx="11042687" cy="36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24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F2A1-9B5F-52EB-5707-C238F409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0C194-F05A-AFF2-1E10-227FF0F44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6" cy="3610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3.1 Chunk Size Strategy</a:t>
            </a:r>
          </a:p>
          <a:p>
            <a:r>
              <a:rPr lang="en-US" dirty="0"/>
              <a:t>Selection: 1000 characters with 200 character overlap. Small chunks improve precision but lose thematic context; larger chunks retain context but dilute semantic signals. The 1000/200 balance ensures that paragraph-level policies (like refund steps) remain atomic units.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3.2 Embedding &amp; Retrieval</a:t>
            </a:r>
          </a:p>
          <a:p>
            <a:r>
              <a:rPr lang="en-US" dirty="0"/>
              <a:t>Model: all-MiniLM-L6-v2. This was chosen for its high throughput and low latency in production environments. We utilize Top-K Similarity Search (k=5) to provide the LLM with a comprehensive but concise context window.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93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7ADE-8B98-A29C-A5BB-265E09D9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Workflow Explanation (</a:t>
            </a:r>
            <a:r>
              <a:rPr lang="en-IN" b="1" dirty="0" err="1"/>
              <a:t>LangGraph</a:t>
            </a:r>
            <a:r>
              <a:rPr lang="en-IN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0DAC-E981-461E-84B7-6F3863715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01" y="1902542"/>
            <a:ext cx="11551814" cy="49554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300" b="1" dirty="0"/>
              <a:t>4.1 Graph-Based Execution</a:t>
            </a:r>
          </a:p>
          <a:p>
            <a:r>
              <a:rPr lang="en-IN" sz="1300" dirty="0"/>
              <a:t>Unlike linear chains, </a:t>
            </a:r>
            <a:r>
              <a:rPr lang="en-IN" sz="1300" dirty="0" err="1"/>
              <a:t>LangGraph</a:t>
            </a:r>
            <a:r>
              <a:rPr lang="en-IN" sz="1300" dirty="0"/>
              <a:t> allows for stateful, cyclic workflows. This is essential for Support bots that need to re-verify queries or pause for human feedback.</a:t>
            </a:r>
          </a:p>
          <a:p>
            <a:pPr marL="0" indent="0">
              <a:buNone/>
            </a:pPr>
            <a:r>
              <a:rPr lang="en-IN" sz="1300" b="1" dirty="0"/>
              <a:t>4.2 Node Responsibilities</a:t>
            </a:r>
          </a:p>
          <a:p>
            <a:r>
              <a:rPr lang="en-IN" sz="1300" dirty="0"/>
              <a:t>Input Node: Normalizes query and captures metadata.</a:t>
            </a:r>
          </a:p>
          <a:p>
            <a:r>
              <a:rPr lang="en-IN" sz="1300" dirty="0"/>
              <a:t>Retrieve Node: Queries </a:t>
            </a:r>
            <a:r>
              <a:rPr lang="en-IN" sz="1300" dirty="0" err="1"/>
              <a:t>ChromaDB</a:t>
            </a:r>
            <a:r>
              <a:rPr lang="en-IN" sz="1300" dirty="0"/>
              <a:t> for top relevant snippets.</a:t>
            </a:r>
          </a:p>
          <a:p>
            <a:r>
              <a:rPr lang="en-IN" sz="1300" dirty="0"/>
              <a:t>Generate Node: Synthesizes answer using the LLM and retrieved context.</a:t>
            </a:r>
          </a:p>
          <a:p>
            <a:r>
              <a:rPr lang="en-IN" sz="1300" dirty="0"/>
              <a:t>Confidence Node: Scores the generated answer.</a:t>
            </a:r>
          </a:p>
          <a:p>
            <a:r>
              <a:rPr lang="en-IN" sz="1300" dirty="0"/>
              <a:t>HITL Node: The manual review gate for human intervention.</a:t>
            </a:r>
          </a:p>
          <a:p>
            <a:pPr marL="0" indent="0">
              <a:buNone/>
            </a:pPr>
            <a:r>
              <a:rPr lang="en-IN" sz="1300" b="1" dirty="0"/>
              <a:t>4.3 State Object Management</a:t>
            </a:r>
          </a:p>
          <a:p>
            <a:pPr marL="0" indent="0">
              <a:buNone/>
            </a:pPr>
            <a:r>
              <a:rPr lang="en-IN" sz="1300" dirty="0"/>
              <a:t>	{</a:t>
            </a:r>
          </a:p>
          <a:p>
            <a:pPr marL="0" indent="0">
              <a:buNone/>
            </a:pPr>
            <a:r>
              <a:rPr lang="en-IN" sz="1300" dirty="0"/>
              <a:t>	"query": "Can I get a refund?",</a:t>
            </a:r>
          </a:p>
          <a:p>
            <a:pPr marL="0" indent="0">
              <a:buNone/>
            </a:pPr>
            <a:r>
              <a:rPr lang="en-IN" sz="1300" dirty="0"/>
              <a:t>	"</a:t>
            </a:r>
            <a:r>
              <a:rPr lang="en-IN" sz="1300" dirty="0" err="1"/>
              <a:t>retrieved_context</a:t>
            </a:r>
            <a:r>
              <a:rPr lang="en-IN" sz="1300" dirty="0"/>
              <a:t>": [...chunks...],</a:t>
            </a:r>
          </a:p>
          <a:p>
            <a:pPr marL="0" indent="0">
              <a:buNone/>
            </a:pPr>
            <a:r>
              <a:rPr lang="en-IN" sz="1300" dirty="0"/>
              <a:t>	"</a:t>
            </a:r>
            <a:r>
              <a:rPr lang="en-IN" sz="1300" dirty="0" err="1"/>
              <a:t>confidence_score</a:t>
            </a:r>
            <a:r>
              <a:rPr lang="en-IN" sz="1300" dirty="0"/>
              <a:t>": 0.72,</a:t>
            </a:r>
          </a:p>
          <a:p>
            <a:pPr marL="0" indent="0">
              <a:buNone/>
            </a:pPr>
            <a:r>
              <a:rPr lang="en-IN" sz="1300" dirty="0"/>
              <a:t>	"</a:t>
            </a:r>
            <a:r>
              <a:rPr lang="en-IN" sz="1300" dirty="0" err="1"/>
              <a:t>requires_hitl</a:t>
            </a:r>
            <a:r>
              <a:rPr lang="en-IN" sz="1300" dirty="0"/>
              <a:t>": true,</a:t>
            </a:r>
          </a:p>
          <a:p>
            <a:pPr marL="0" indent="0">
              <a:buNone/>
            </a:pPr>
            <a:r>
              <a:rPr lang="en-IN" sz="1300" dirty="0"/>
              <a:t>	"</a:t>
            </a:r>
            <a:r>
              <a:rPr lang="en-IN" sz="1300" dirty="0" err="1"/>
              <a:t>final_response</a:t>
            </a:r>
            <a:r>
              <a:rPr lang="en-IN" sz="1300" dirty="0"/>
              <a:t>": null</a:t>
            </a:r>
          </a:p>
          <a:p>
            <a:pPr marL="0" indent="0">
              <a:buNone/>
            </a:pPr>
            <a:r>
              <a:rPr lang="en-IN" sz="13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29639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1CF4-2FD7-00A7-A3A6-A7A6F349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Conditional Logic &amp;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DC88-BB9A-B3F2-CD4C-D85DFCC9E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34689"/>
            <a:ext cx="11029615" cy="444717"/>
          </a:xfrm>
        </p:spPr>
        <p:txBody>
          <a:bodyPr/>
          <a:lstStyle/>
          <a:p>
            <a:r>
              <a:rPr lang="en-IN" dirty="0"/>
              <a:t>5.1 Routing Thresholds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AA7FB-8883-908D-EF3C-BFDE0987D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16" y="2379406"/>
            <a:ext cx="8278380" cy="6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BDCFB9-B6D2-3B32-4E67-41960E232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16" y="2968671"/>
            <a:ext cx="8345065" cy="17052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A876A7-6526-A1B5-9FFE-480A70CA4C95}"/>
              </a:ext>
            </a:extLst>
          </p:cNvPr>
          <p:cNvSpPr txBox="1"/>
          <p:nvPr/>
        </p:nvSpPr>
        <p:spPr>
          <a:xfrm>
            <a:off x="581191" y="4984413"/>
            <a:ext cx="9576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5.2 Safety &amp; Intent Detection</a:t>
            </a:r>
          </a:p>
          <a:p>
            <a:r>
              <a:rPr lang="en-US" dirty="0"/>
              <a:t>Queries containing sensitive keywords (e.g., "Legal", "Chargeback", "SLA Breach") trigger an</a:t>
            </a:r>
          </a:p>
          <a:p>
            <a:r>
              <a:rPr lang="en-US" dirty="0"/>
              <a:t>Immediate Escalation, bypassing the automated generation node to protect company liability.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323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88A33-7A2A-6CF9-5824-E2729BE5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6. HITL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C94CD-CA7F-859B-826D-32259BFE9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95593"/>
            <a:ext cx="11029615" cy="36783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HITL is not just a safety net; it is a collaborative interface between AI and Human Intelligence.</a:t>
            </a:r>
          </a:p>
          <a:p>
            <a:pPr marL="0" indent="0">
              <a:buNone/>
            </a:pPr>
            <a:r>
              <a:rPr lang="en-US" b="1" dirty="0"/>
              <a:t>Human Agent Actions:</a:t>
            </a:r>
          </a:p>
          <a:p>
            <a:r>
              <a:rPr lang="en-US" dirty="0"/>
              <a:t>Approve: One-click delivery of AI-generated policy answers.</a:t>
            </a:r>
          </a:p>
          <a:p>
            <a:r>
              <a:rPr lang="en-US" dirty="0"/>
              <a:t>Edit: Modifying the AI draft to address specific nuances.</a:t>
            </a:r>
          </a:p>
          <a:p>
            <a:r>
              <a:rPr lang="en-US" dirty="0"/>
              <a:t>Override: Discarding the AI output for complex enterprise cases.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43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8411-C60F-1134-3605-825AA07CF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7. Challenges &amp; Trade-offs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1FF46-7437-C332-6469-4A2ABF75E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Latency vs. Context: </a:t>
            </a:r>
            <a:r>
              <a:rPr lang="en-US" dirty="0"/>
              <a:t>Retrieving more chunks (k=10+) improves accuracy but doubles LLM generation time. We opted for k=5 for a &lt;3s response goal.</a:t>
            </a:r>
          </a:p>
          <a:p>
            <a:r>
              <a:rPr lang="en-US" b="1" dirty="0"/>
              <a:t>Hallucination Guard: </a:t>
            </a:r>
            <a:r>
              <a:rPr lang="en-US" dirty="0"/>
              <a:t>Strict system prompting prevents the model from "helping" with out- of-scope integrations (e.g., Salesforce), ensuring the brand doesn't promise unsupported features.</a:t>
            </a:r>
          </a:p>
          <a:p>
            <a:r>
              <a:rPr lang="en-US" b="1" dirty="0"/>
              <a:t>Cost vs. Performance: </a:t>
            </a:r>
            <a:r>
              <a:rPr lang="en-US" dirty="0"/>
              <a:t>Using GPT-4 improves reasoning quality and policy compliance but increases operational cost significantly. Smaller open-source models reduce cost and latency but may reduce response quality for complex enterprise queries. Therefore, a hybrid strategy can be used where smaller models handle Tier-1 support and GPT-4 handles sensitive or escalated cases.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18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8EFA-CE15-0361-4CF2-F253F7FD4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8. TESTING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77208-1DFC-92F9-B131-7BCB313D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76285"/>
            <a:ext cx="11029615" cy="8836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utilize a multi-tier testing strategy to validate retrieval and routing. </a:t>
            </a:r>
          </a:p>
          <a:p>
            <a:r>
              <a:rPr lang="en-US" dirty="0"/>
              <a:t>Legal/Compliance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AB050-17AE-9F70-3C54-7F5E852D0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88" y="2692460"/>
            <a:ext cx="8373644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305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1BA5-D6E9-07E6-5B1E-03EF8F22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9. Future Enhancements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F4676-DC08-F305-2083-7812043C0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94271"/>
            <a:ext cx="11029615" cy="1945560"/>
          </a:xfrm>
        </p:spPr>
        <p:txBody>
          <a:bodyPr/>
          <a:lstStyle/>
          <a:p>
            <a:r>
              <a:rPr lang="en-IN" dirty="0"/>
              <a:t>Feedback Re-Indexing: Automatically adding human-corrected answers back into </a:t>
            </a:r>
            <a:r>
              <a:rPr lang="en-IN" dirty="0" err="1"/>
              <a:t>ChromaDB</a:t>
            </a:r>
            <a:r>
              <a:rPr lang="en-IN" dirty="0"/>
              <a:t> to create a "Self-Improving" RAG.</a:t>
            </a:r>
          </a:p>
          <a:p>
            <a:r>
              <a:rPr lang="en-IN" dirty="0"/>
              <a:t>Session Memory: Implementing window-based chat history to handle multi-turn troubleshooting. </a:t>
            </a:r>
          </a:p>
          <a:p>
            <a:r>
              <a:rPr lang="en-IN" dirty="0"/>
              <a:t>Observability Dashboard: A production monitor for tracking retrieval failure rates and latency spikes.</a:t>
            </a:r>
          </a:p>
        </p:txBody>
      </p:sp>
    </p:spTree>
    <p:extLst>
      <p:ext uri="{BB962C8B-B14F-4D97-AF65-F5344CB8AC3E}">
        <p14:creationId xmlns:p14="http://schemas.microsoft.com/office/powerpoint/2010/main" val="333738410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{79AA5586-0F59-4675-B6F1-5D69BCDDC1D3}TF319cfb39-eeba-4af5-a5a2-03d53d0375160e3309b2-0adf682d390f</Template>
  <TotalTime>29</TotalTime>
  <Words>775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Gill Sans MT</vt:lpstr>
      <vt:lpstr>Wingdings</vt:lpstr>
      <vt:lpstr>Wingdings 2</vt:lpstr>
      <vt:lpstr>Dividend</vt:lpstr>
      <vt:lpstr>RAG-Based Customer Support Assistant</vt:lpstr>
      <vt:lpstr>1. Introduction</vt:lpstr>
      <vt:lpstr>2. System Architecture Explanation</vt:lpstr>
      <vt:lpstr>2. System Architecture Explanation</vt:lpstr>
      <vt:lpstr>3. Design Decisions</vt:lpstr>
      <vt:lpstr>4. Workflow Explanation (LangGraph)</vt:lpstr>
      <vt:lpstr>5. Conditional Logic &amp; Routing</vt:lpstr>
      <vt:lpstr>6. HITL Implementation</vt:lpstr>
      <vt:lpstr>7. Challenges &amp; Trade-offs</vt:lpstr>
      <vt:lpstr>8. TESTING &amp; VALIDATION</vt:lpstr>
      <vt:lpstr>9. Future Enhancements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Akshatha V</dc:creator>
  <cp:lastModifiedBy>Akshatha V</cp:lastModifiedBy>
  <cp:revision>1</cp:revision>
  <dcterms:created xsi:type="dcterms:W3CDTF">2026-04-22T13:28:13Z</dcterms:created>
  <dcterms:modified xsi:type="dcterms:W3CDTF">2026-04-22T13:57:55Z</dcterms:modified>
</cp:coreProperties>
</file>